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15202B"/>
          </a:solidFill>
          <a:ln w="12700">
            <a:solidFill>
              <a:srgbClr val="1520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50976"/>
            <a:ext cx="12191695" cy="457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463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PDE-Shaped Finite-Relaxation Neural Media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9768" y="55778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Resolution-stable spatial binding through inspectable learned coefficient fields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458200" y="173736"/>
            <a:ext cx="3310128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41080" y="29260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Controlled computational study | Neural Processing Letters submission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02336" y="1207008"/>
            <a:ext cx="2743200" cy="504748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1207008"/>
            <a:ext cx="2743200" cy="100584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389888"/>
            <a:ext cx="329184" cy="329184"/>
          </a:xfrm>
          <a:prstGeom prst="ellipse">
            <a:avLst/>
          </a:prstGeom>
          <a:solidFill>
            <a:srgbClr val="0969DA"/>
          </a:solidFill>
          <a:ln>
            <a:solidFill>
              <a:srgbClr val="0969D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371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Spatial binding task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64992" y="1207008"/>
            <a:ext cx="3657600" cy="5047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207008"/>
            <a:ext cx="3657600" cy="100584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1389888"/>
            <a:ext cx="329184" cy="329184"/>
          </a:xfrm>
          <a:prstGeom prst="ellipse">
            <a:avLst/>
          </a:prstGeom>
          <a:solidFill>
            <a:srgbClr val="FF7A1A"/>
          </a:solidFill>
          <a:ln>
            <a:solidFill>
              <a:srgbClr val="FF7A1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50208" y="13716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PDE-shaped medium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42048" y="1207008"/>
            <a:ext cx="4535424" cy="504748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2048" y="1207008"/>
            <a:ext cx="4535424" cy="10058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1389888"/>
            <a:ext cx="329184" cy="329184"/>
          </a:xfrm>
          <a:prstGeom prst="ellipse">
            <a:avLst/>
          </a:prstGeom>
          <a:solidFill>
            <a:srgbClr val="6F42C1"/>
          </a:solidFill>
          <a:ln>
            <a:solidFill>
              <a:srgbClr val="6F42C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27264" y="137160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Transfer and mechanism audit</a:t>
            </a:r>
            <a:endParaRPr lang="en-US" sz="1250" dirty="0"/>
          </a:p>
        </p:txBody>
      </p:sp>
      <p:pic>
        <p:nvPicPr>
          <p:cNvPr id="21" name="Image 0" descr="/tmp/ttn_ppt_design/assets/task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610" y="1783080"/>
            <a:ext cx="1854363" cy="313639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49808" y="5020056"/>
            <a:ext cx="2011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513892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Two boundary sources encode x and y; their hidden crossing coordinate is classified by a locked teacher field.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58368" y="5769864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0969DA">
                <a:alpha val="8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580186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969D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 L</a:t>
            </a:r>
            <a:endParaRPr lang="en-US" sz="710" dirty="0"/>
          </a:p>
        </p:txBody>
      </p:sp>
      <p:sp>
        <p:nvSpPr>
          <p:cNvPr id="26" name="Shape 23"/>
          <p:cNvSpPr/>
          <p:nvPr/>
        </p:nvSpPr>
        <p:spPr>
          <a:xfrm>
            <a:off x="1426464" y="5769864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FF7A1A">
                <a:alpha val="8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99616" y="5801868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7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 B</a:t>
            </a: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2194560" y="5769864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6F42C1">
                <a:alpha val="8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67712" y="58018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F42C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c=(x,y)</a:t>
            </a:r>
            <a:endParaRPr lang="en-US" sz="710" dirty="0"/>
          </a:p>
        </p:txBody>
      </p:sp>
      <p:pic>
        <p:nvPicPr>
          <p:cNvPr id="30" name="Image 1" descr="/tmp/ttn_ppt_design/assets/medium_foc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000329"/>
            <a:ext cx="1755648" cy="316823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5321808" y="3374136"/>
            <a:ext cx="310896" cy="0"/>
          </a:xfrm>
          <a:prstGeom prst="line">
            <a:avLst/>
          </a:prstGeom>
          <a:noFill/>
          <a:ln w="27940">
            <a:solidFill>
              <a:srgbClr val="FF7A1A"/>
            </a:solidFill>
            <a:prstDash val="solid"/>
            <a:headEnd type="none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5687568" y="1847088"/>
            <a:ext cx="1060704" cy="621792"/>
          </a:xfrm>
          <a:prstGeom prst="roundRect">
            <a:avLst>
              <a:gd name="adj" fmla="val 5882"/>
            </a:avLst>
          </a:prstGeom>
          <a:solidFill>
            <a:srgbClr val="FFF3E8"/>
          </a:solidFill>
          <a:ln w="8890">
            <a:solidFill>
              <a:srgbClr val="FF7A1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797296" y="19933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7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kx, ky, mu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687568" y="2633472"/>
            <a:ext cx="1060704" cy="621792"/>
          </a:xfrm>
          <a:prstGeom prst="roundRect">
            <a:avLst>
              <a:gd name="adj" fmla="val 5882"/>
            </a:avLst>
          </a:prstGeom>
          <a:solidFill>
            <a:srgbClr val="EDF7FF"/>
          </a:solidFill>
          <a:ln w="8890">
            <a:solidFill>
              <a:srgbClr val="0969D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769864" y="27889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969D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fixed steps</a:t>
            </a:r>
            <a:endParaRPr lang="en-US" sz="930" dirty="0"/>
          </a:p>
        </p:txBody>
      </p:sp>
      <p:sp>
        <p:nvSpPr>
          <p:cNvPr id="36" name="Shape 32"/>
          <p:cNvSpPr/>
          <p:nvPr/>
        </p:nvSpPr>
        <p:spPr>
          <a:xfrm>
            <a:off x="5687568" y="3419856"/>
            <a:ext cx="1060704" cy="621792"/>
          </a:xfrm>
          <a:prstGeom prst="roundRect">
            <a:avLst>
              <a:gd name="adj" fmla="val 5882"/>
            </a:avLst>
          </a:prstGeom>
          <a:solidFill>
            <a:srgbClr val="F4EDFF"/>
          </a:solidFill>
          <a:ln w="8890">
            <a:solidFill>
              <a:srgbClr val="6F42C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769864" y="356616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F42C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 = uL*uB</a:t>
            </a:r>
            <a:endParaRPr lang="en-US" sz="880" dirty="0"/>
          </a:p>
        </p:txBody>
      </p:sp>
      <p:sp>
        <p:nvSpPr>
          <p:cNvPr id="38" name="Shape 34"/>
          <p:cNvSpPr/>
          <p:nvPr/>
        </p:nvSpPr>
        <p:spPr>
          <a:xfrm>
            <a:off x="5687568" y="4206240"/>
            <a:ext cx="1060704" cy="621792"/>
          </a:xfrm>
          <a:prstGeom prst="roundRect">
            <a:avLst>
              <a:gd name="adj" fmla="val 5882"/>
            </a:avLst>
          </a:prstGeom>
          <a:solidFill>
            <a:srgbClr val="EFFFF8"/>
          </a:solidFill>
          <a:ln w="8890">
            <a:solidFill>
              <a:srgbClr val="009E7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879592" y="4370832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09E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logits</a:t>
            </a:r>
            <a:endParaRPr lang="en-US" sz="970" dirty="0"/>
          </a:p>
        </p:txBody>
      </p:sp>
      <p:sp>
        <p:nvSpPr>
          <p:cNvPr id="40" name="Text 36"/>
          <p:cNvSpPr/>
          <p:nvPr/>
        </p:nvSpPr>
        <p:spPr>
          <a:xfrm>
            <a:off x="3657600" y="5468112"/>
            <a:ext cx="3054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Finite relaxation, not a fully converged elliptic solver: the learned fields are visualizable, perturbable, and transferable across grids.</a:t>
            </a:r>
            <a:endParaRPr lang="en-US" sz="840" dirty="0"/>
          </a:p>
        </p:txBody>
      </p:sp>
      <p:pic>
        <p:nvPicPr>
          <p:cNvPr id="41" name="Image 2" descr="/tmp/ttn_ppt_design/assets/resolution_transf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701" y="1764792"/>
            <a:ext cx="4142973" cy="2322576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7516368" y="4334256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969DA">
                <a:alpha val="92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635240" y="4425696"/>
            <a:ext cx="749808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69D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96.13%</a:t>
            </a:r>
            <a:endParaRPr lang="en-US" sz="1500" dirty="0"/>
          </a:p>
        </p:txBody>
      </p:sp>
      <p:sp>
        <p:nvSpPr>
          <p:cNvPr id="44" name="Text 39"/>
          <p:cNvSpPr/>
          <p:nvPr/>
        </p:nvSpPr>
        <p:spPr>
          <a:xfrm>
            <a:off x="7626096" y="4767316"/>
            <a:ext cx="768096" cy="162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5718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32x32 test</a:t>
            </a:r>
            <a:endParaRPr lang="en-US" sz="780" dirty="0"/>
          </a:p>
        </p:txBody>
      </p:sp>
      <p:sp>
        <p:nvSpPr>
          <p:cNvPr id="45" name="Shape 40"/>
          <p:cNvSpPr/>
          <p:nvPr/>
        </p:nvSpPr>
        <p:spPr>
          <a:xfrm>
            <a:off x="8622792" y="4334256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969DA">
                <a:alpha val="92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741664" y="4425696"/>
            <a:ext cx="749808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69D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96.00%</a:t>
            </a:r>
            <a:endParaRPr lang="en-US" sz="1500" dirty="0"/>
          </a:p>
        </p:txBody>
      </p:sp>
      <p:sp>
        <p:nvSpPr>
          <p:cNvPr id="47" name="Text 42"/>
          <p:cNvSpPr/>
          <p:nvPr/>
        </p:nvSpPr>
        <p:spPr>
          <a:xfrm>
            <a:off x="8732520" y="4767316"/>
            <a:ext cx="768096" cy="162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5718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128x128 audit</a:t>
            </a:r>
            <a:endParaRPr lang="en-US" sz="780" dirty="0"/>
          </a:p>
        </p:txBody>
      </p:sp>
      <p:sp>
        <p:nvSpPr>
          <p:cNvPr id="48" name="Shape 43"/>
          <p:cNvSpPr/>
          <p:nvPr/>
        </p:nvSpPr>
        <p:spPr>
          <a:xfrm>
            <a:off x="9729216" y="4334256"/>
            <a:ext cx="9875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7A1A">
                <a:alpha val="92000"/>
              </a:srgbClr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9848088" y="4425696"/>
            <a:ext cx="749808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37.16%</a:t>
            </a:r>
            <a:endParaRPr lang="en-US" sz="1500" dirty="0"/>
          </a:p>
        </p:txBody>
      </p:sp>
      <p:sp>
        <p:nvSpPr>
          <p:cNvPr id="50" name="Text 45"/>
          <p:cNvSpPr/>
          <p:nvPr/>
        </p:nvSpPr>
        <p:spPr>
          <a:xfrm>
            <a:off x="9838944" y="4767316"/>
            <a:ext cx="768096" cy="162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5718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local-kernel @128</a:t>
            </a:r>
            <a:endParaRPr lang="en-US" sz="780" dirty="0"/>
          </a:p>
        </p:txBody>
      </p:sp>
      <p:sp>
        <p:nvSpPr>
          <p:cNvPr id="51" name="Shape 46"/>
          <p:cNvSpPr/>
          <p:nvPr/>
        </p:nvSpPr>
        <p:spPr>
          <a:xfrm>
            <a:off x="10744200" y="4334256"/>
            <a:ext cx="950976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2DA44E">
                <a:alpha val="92000"/>
              </a:srgbClr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10863072" y="4425696"/>
            <a:ext cx="713232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2DA44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54.47%</a:t>
            </a:r>
            <a:endParaRPr lang="en-US" sz="1360" dirty="0"/>
          </a:p>
        </p:txBody>
      </p:sp>
      <p:sp>
        <p:nvSpPr>
          <p:cNvPr id="53" name="Text 48"/>
          <p:cNvSpPr/>
          <p:nvPr/>
        </p:nvSpPr>
        <p:spPr>
          <a:xfrm>
            <a:off x="10853928" y="4767316"/>
            <a:ext cx="731520" cy="162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5718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@128</a:t>
            </a:r>
            <a:endParaRPr lang="en-US" sz="680" dirty="0"/>
          </a:p>
        </p:txBody>
      </p:sp>
      <p:sp>
        <p:nvSpPr>
          <p:cNvPr id="54" name="Shape 49"/>
          <p:cNvSpPr/>
          <p:nvPr/>
        </p:nvSpPr>
        <p:spPr>
          <a:xfrm>
            <a:off x="7479792" y="5230368"/>
            <a:ext cx="40233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7516368" y="5477256"/>
            <a:ext cx="73152" cy="7315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>
                <a:alpha val="0"/>
              </a:srgbClr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7662672" y="5404104"/>
            <a:ext cx="1591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resolution transfer: 32 -&gt; 64 -&gt; 128 without retraining</a:t>
            </a:r>
            <a:endParaRPr lang="en-US" sz="820" dirty="0"/>
          </a:p>
        </p:txBody>
      </p:sp>
      <p:sp>
        <p:nvSpPr>
          <p:cNvPr id="57" name="Shape 52"/>
          <p:cNvSpPr/>
          <p:nvPr/>
        </p:nvSpPr>
        <p:spPr>
          <a:xfrm>
            <a:off x="9582912" y="5477256"/>
            <a:ext cx="73152" cy="73152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9729216" y="5404104"/>
            <a:ext cx="1591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controls expose architecture-specific transfer bias</a:t>
            </a:r>
            <a:endParaRPr lang="en-US" sz="820" dirty="0"/>
          </a:p>
        </p:txBody>
      </p:sp>
      <p:sp>
        <p:nvSpPr>
          <p:cNvPr id="59" name="Shape 54"/>
          <p:cNvSpPr/>
          <p:nvPr/>
        </p:nvSpPr>
        <p:spPr>
          <a:xfrm>
            <a:off x="7516368" y="5815584"/>
            <a:ext cx="73152" cy="73152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>
                <a:alpha val="0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7662672" y="5742432"/>
            <a:ext cx="1591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shuffle, lesion and localization tests perturb learned organization</a:t>
            </a:r>
            <a:endParaRPr lang="en-US" sz="820" dirty="0"/>
          </a:p>
        </p:txBody>
      </p:sp>
      <p:sp>
        <p:nvSpPr>
          <p:cNvPr id="61" name="Shape 56"/>
          <p:cNvSpPr/>
          <p:nvPr/>
        </p:nvSpPr>
        <p:spPr>
          <a:xfrm>
            <a:off x="9582912" y="5815584"/>
            <a:ext cx="73152" cy="73152"/>
          </a:xfrm>
          <a:prstGeom prst="ellipse">
            <a:avLst/>
          </a:prstGeom>
          <a:solidFill>
            <a:srgbClr val="009E73"/>
          </a:solidFill>
          <a:ln w="12700">
            <a:solidFill>
              <a:srgbClr val="009E73">
                <a:alpha val="0"/>
              </a:srgbClr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9729216" y="5742432"/>
            <a:ext cx="1591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source-localization baselines bound the classifier claim</a:t>
            </a:r>
            <a:endParaRPr lang="en-US" sz="820" dirty="0"/>
          </a:p>
        </p:txBody>
      </p:sp>
      <p:sp>
        <p:nvSpPr>
          <p:cNvPr id="63" name="Shape 58"/>
          <p:cNvSpPr/>
          <p:nvPr/>
        </p:nvSpPr>
        <p:spPr>
          <a:xfrm>
            <a:off x="402336" y="6391656"/>
            <a:ext cx="11375136" cy="301752"/>
          </a:xfrm>
          <a:prstGeom prst="roundRect">
            <a:avLst>
              <a:gd name="adj" fmla="val 12121"/>
            </a:avLst>
          </a:prstGeom>
          <a:solidFill>
            <a:srgbClr val="EAF1FA"/>
          </a:solidFill>
          <a:ln w="7620">
            <a:solidFill>
              <a:srgbClr val="D5E2F1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12648" y="6464808"/>
            <a:ext cx="10954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dirty="0">
                <a:solidFill>
                  <a:srgbClr val="1520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Core message: PDE-shaped local relaxation can implement inspectable spatial binding and preserve accuracy under grid refinement, while generic local-kernel and CoordConv controls degrade sharply.</a:t>
            </a:r>
            <a:endParaRPr lang="en-US" sz="7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Zhejiang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PDE-Shaped Finite-Relaxation Neural Media</dc:title>
  <dc:subject>One-slide graphical summary for PDE-shaped finite-relaxation neural media</dc:subject>
  <dc:creator>DeKun Yang</dc:creator>
  <cp:lastModifiedBy>DeKun Yang</cp:lastModifiedBy>
  <cp:revision>1</cp:revision>
  <dcterms:created xsi:type="dcterms:W3CDTF">2026-05-29T05:45:20Z</dcterms:created>
  <dcterms:modified xsi:type="dcterms:W3CDTF">2026-05-29T05:45:20Z</dcterms:modified>
</cp:coreProperties>
</file>